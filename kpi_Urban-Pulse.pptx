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9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0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SemiBold" panose="020B0604020202020204" charset="0"/>
      <p:regular r:id="rId17"/>
    </p:embeddedFont>
    <p:embeddedFont>
      <p:font typeface="Heebo" pitchFamily="2" charset="-79"/>
      <p:regular r:id="rId18"/>
    </p:embeddedFont>
    <p:embeddedFont>
      <p:font typeface="Heebo Bold" panose="020B0604020202020204" charset="-79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13.1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1 110 24575,'165'-8'0,"217"-37"0,-118 9 0,-222 32 0,171-12 0,-186 16 0,1 1 0,0 1 0,0 1 0,50 13 0,-36-5 0,54 8 0,-53-15 0,0-1 0,56-5 0,-19 0 0,-5 3 0,4 0 0,86-10 0,-119 6 0,0 2 0,63 6 0,-1 1 0,276-6 0,-382 0 0,0 0 0,1 0 0,-1 0 0,0 0 0,0 0 0,0 0 0,1 1 0,-1-1 0,0 1 0,0 0 0,0 0 0,0 0 0,0 0 0,0 0 0,0 0 0,0 0 0,-1 0 0,4 4 0,-4-4 0,0 1 0,0 0 0,-1-1 0,1 1 0,-1 0 0,1 0 0,-1-1 0,0 1 0,0 0 0,0 0 0,0 0 0,0-1 0,0 1 0,0 0 0,-1 0 0,1 0 0,0-1 0,-1 1 0,0 0 0,1-1 0,-1 1 0,0 0 0,-2 2 0,-3 8 0,-2-1 0,1 0 0,-2 0 0,1 0 0,-1-1 0,-1 0 0,-13 10 0,8-8 0,-1-1 0,0 0 0,-1-1 0,-27 12 0,34-18 0,0-1 0,-1 0 0,1-1 0,-1 0 0,0 0 0,-11-1 0,-69-3 0,33 0 0,-1329 2 0,1377 1 0,1 0 0,-1 1 0,1 0 0,-1 0 0,1 1 0,0 1 0,0-1 0,-9 7 0,8-6 0,1 1 0,-1-1 0,0-1 0,-1 1 0,1-2 0,-18 3 0,-183-4 0,98-3 0,100 1 0,0 0 0,0-1 0,0 0 0,0-2 0,-13-4 0,-30-7 0,27 11 0,21 3 0,0 0 0,0 0 0,0-1 0,1 0 0,-1-1 0,0 1 0,-9-6 0,2 0 164,13 8-237,0-1 0,0 0 0,0 0 1,0 0-1,1 0 0,-1 0 0,0 0 0,1 0 1,-1 0-1,0-1 0,1 1 0,0-1 0,-1 1 1,1-1-1,0 0 0,0 1 0,0-1 0,0 0 1,0 0-1,-1-2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25.6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 20 24575,'151'-2'0,"156"4"0,-281 1 0,1 1 0,26 8 0,-30-7 0,-1 0 0,1-1 0,31 0 0,674-5 0,-696 0 0,35-7 0,18-1 0,33 10 0,30-3 0,-25-15 0,-86 10 0,-1 1 0,49 0 0,-53 6 0,1 1 0,49 9 0,-71-8 0,1 1 0,-1 1 0,0 0 0,0 0 0,-1 1 0,1 0 0,-1 1 0,0 0 0,-1 0 0,15 13 0,-19-15 0,-1 1 0,0-1 0,0 0 0,0 1 0,-1 0 0,1 0 0,-1 0 0,0 0 0,0 1 0,-1-1 0,0 1 0,0 0 0,0-1 0,-1 1 0,0 0 0,0 0 0,0 0 0,-1 0 0,1 0 0,-1 0 0,-2 6 0,-1 133 0,3-142 0,0-1 0,-1 1 0,1-1 0,-1 1 0,0-1 0,0 0 0,0 1 0,0-1 0,0 0 0,0 1 0,0-1 0,-1 0 0,1 0 0,-1 0 0,0 0 0,-2 1 0,1 0 0,-1 0 0,0-1 0,0 1 0,0-1 0,0 0 0,0 0 0,-1-1 0,-5 2 0,-7 1 0,0-1 0,-1-1 0,-27 0 0,43-2 0,-591 1 0,284-3 0,290 3 0,-1 2 0,1-1 0,-33 11 0,33-8 0,-1 0 0,0-2 0,-27 2 0,31-4 0,1 1 0,-17 4 0,16-3 0,-31 3 0,-465-5 0,249-3 0,256 2 0,1-1 0,-1 0 0,0 0 0,0-1 0,1 1 0,-1-2 0,-11-4 0,-44-29 0,28 16 0,10 8 0,0 1 0,0 1 0,-34-9 0,56 19-59,1-1 0,-1 1-1,1-1 1,-1 0-1,0 0 1,1 1 0,-1-1-1,1 0 1,0 0 0,-1 0-1,1-1 1,0 1 0,0 0-1,0 0 1,-1-1-1,1 1 1,0-1 0,1 1-1,-1-1 1,0 1 0,0-1-1,0-1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3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24 24264,'2217'0'0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38.1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36 24549,'2470'0'0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42.9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54.3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1 103 24575,'40'1'0,"0"2"0,0 2 0,0 2 0,-1 1 0,49 17 0,-32-7 0,1-3 0,95 14 0,-100-22 0,-30-3 0,37 1 0,248-6 0,-297 0 0,0 0 0,-1-1 0,0 0 0,1-1 0,-1 0 0,0 0 0,9-5 0,24-8 0,-24 12 0,0 0 0,0 1 0,1 1 0,23 1 0,5-1 0,-33 0 0,0-1 0,0 0 0,0-1 0,24-10 0,-24 8 0,0 1 0,0 1 0,0 0 0,26-3 0,245 4 0,-148 5 0,-135-2 0,21 1 0,1-2 0,-1-1 0,39-7 0,-34 5 0,1 0 0,0 2 0,0 1 0,34 3 0,4 0 0,-66-2 0,9 0 0,1 0 0,-1 0 0,0 1 0,0 1 0,16 4 0,-24-6 0,0 1 0,0 0 0,0 0 0,-1 0 0,1-1 0,0 1 0,-1 1 0,1-1 0,-1 0 0,1 0 0,-1 1 0,0-1 0,0 1 0,1-1 0,-1 1 0,0-1 0,0 1 0,0 0 0,-1-1 0,1 1 0,0 0 0,-1 0 0,1 0 0,-1-1 0,1 1 0,-1 0 0,0 0 0,0 0 0,0 0 0,0 0 0,0 0 0,0 0 0,-1 0 0,1-1 0,-1 1 0,1 0 0,-2 3 0,0-2 0,0 1 0,0-1 0,0 0 0,0 0 0,-1 0 0,1 0 0,-1 0 0,0 0 0,0-1 0,0 0 0,0 1 0,0-1 0,-1 0 0,1 0 0,0-1 0,-8 3 0,-19 13 0,16-8 0,0-1 0,0 0 0,-1-1 0,-1 0 0,-29 8 0,-84 14 0,102-24 0,-37 3 0,0-2 0,-111-6 0,79-1 0,77 0 0,0-1 0,-31-7 0,31 5 0,17 3 0,1 1 0,-1 0 0,1 0 0,-1-1 0,1 1 0,0-1 0,-1 1 0,1-1 0,0 1 0,-1-1 0,1 0 0,0 0 0,0 1 0,0-1 0,-1 0 0,1 0 0,0 0 0,0-1 0,0 1 0,1 0 0,-1 0 0,0 0 0,0-1 0,1 1 0,-1 0 0,1-1 0,-1 1 0,0-2 0,1 1 0,1 0 0,-1 1 0,0-1 0,1 0 0,-1 1 0,1-1 0,-1 0 0,1 1 0,0-1 0,-1 1 0,1 0 0,0-1 0,0 1 0,0-1 0,0 1 0,0 0 0,1 0 0,-1 0 0,0 0 0,1 0 0,-1 0 0,0 0 0,1 0 0,2-1 0,53-23 0,0 3 0,116-29 0,-114 38 0,0 2 0,1 2 0,0 4 0,93 2 0,-111 5 0,-22 0 0,0-1 0,0-1 0,0-1 0,31-5 0,-39 2 0,0 0 0,-1-1 0,0-1 0,14-8 0,14-7 0,-3-2 0,-29 18 0,-1 0 0,1 1 0,0 0 0,7-3 0,6-7 0,-19 13 0,-4 4 0,0-1 0,-4 6 65,-1 0-351,1-1 0,-2 0 0,1 0 0,-13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55.9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1:59.3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24348,'1874'126'0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03.5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11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24282,'2721'0'0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15.0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36 24397,'2702'0'0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25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24499,'2612'54'0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35.5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1 162 24499,'2702'-162'0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41.8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24120,'631'0'0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49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19 24540,'2612'-18'0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55.5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 24457,'703'0'0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2:59.2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24530,'2234'180'0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01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76 24575,'24'-2'0,"0"0"0,0-2 0,37-11 0,-13 3 0,6-1 0,-27 6 0,0 1 0,0 1 0,56-2 0,6 9 0,109-3 0,-181-2-1365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11.3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57 24575,'326'-9'0,"1"-1"0,68 11 0,-382-2 0,0 0 0,-1-1 0,1-1 0,19-6 0,-17 4 0,1 1 0,19-3 0,293 1 0,-194 8 0,480-2 0,-608 1 0,1-1 0,-1 1 0,0 1 0,0-1 0,0 1 0,0 1 0,0-1 0,0 1 0,0 0 0,8 6 0,-7-5 0,-1-1 0,0 1 0,1-1 0,0 0 0,0 0 0,0-1 0,13 3 0,-4-4-170,-1 2-1,0 0 0,0 0 1,0 2-1,0 0 0,0 0 1,15 10-1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14.2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23892,'974'0'0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23.6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0 180 24120,'1298'-180'0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25.5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34.3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24541,'2432'144'0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38.0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1 198 24233,'2504'-198'0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48.7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55.2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1 122 24575,'17'-1'0,"-1"-1"0,1-1 0,29-9 0,-19 5 0,77-15 0,0 4 0,0 4 0,186 1 0,50 15 0,-334-3 0,0 1 0,-1-1 0,1 0 0,0-1 0,0 0 0,-1 0 0,9-4 0,-7 3 0,0 0 0,0 1 0,0 0 0,12-3 0,-4 4 0,0 1 0,0 0 0,0 0 0,0 2 0,14 3 0,75 21 0,-74-16 0,1-2 0,61 8 0,164-14 0,-129-4 0,468 2 0,-572 1 0,39 7 0,-37-4 0,28 1 0,-42-4 67,0 1 0,17 4 0,-3-1-1633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3:57.8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0 183 24575,'17'-1'0,"0"-1"0,0-1 0,29-8 0,0 0 0,88-13 0,83-18 0,-190 36 0,0 2 0,0 1 0,0 1 0,39 2 0,-52 0 0,-1-2 0,1 0 0,-1-1 0,0 0 0,0-1 0,19-8 0,22-7 0,-15 10 0,1 2 0,0 1 0,44-1 0,125 8 0,-85 1 0,-55-3 0,78 3 0,-56 15 0,-60-13-1365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2:54:00.2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90 24443,'1424'-90'0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0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3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2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18.png"/><Relationship Id="rId4" Type="http://schemas.openxmlformats.org/officeDocument/2006/relationships/customXml" Target="../ink/ink12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18.xml"/><Relationship Id="rId3" Type="http://schemas.openxmlformats.org/officeDocument/2006/relationships/image" Target="../media/image21.svg"/><Relationship Id="rId7" Type="http://schemas.openxmlformats.org/officeDocument/2006/relationships/customXml" Target="../ink/ink15.xm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17.xml"/><Relationship Id="rId5" Type="http://schemas.openxmlformats.org/officeDocument/2006/relationships/image" Target="../media/image23.svg"/><Relationship Id="rId10" Type="http://schemas.openxmlformats.org/officeDocument/2006/relationships/image" Target="../media/image26.png"/><Relationship Id="rId4" Type="http://schemas.openxmlformats.org/officeDocument/2006/relationships/image" Target="../media/image22.svg"/><Relationship Id="rId9" Type="http://schemas.openxmlformats.org/officeDocument/2006/relationships/customXml" Target="../ink/ink16.xml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20.xml"/><Relationship Id="rId10" Type="http://schemas.openxmlformats.org/officeDocument/2006/relationships/image" Target="../media/image10.png"/><Relationship Id="rId4" Type="http://schemas.openxmlformats.org/officeDocument/2006/relationships/image" Target="../media/image29.png"/><Relationship Id="rId9" Type="http://schemas.openxmlformats.org/officeDocument/2006/relationships/customXml" Target="../ink/ink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4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hyperlink" Target="https://cdn.gamma.app/36r8wnq8edhnxqg/d26df1d8ec1a4c3ea07508c7a0bb6fee/file/30b4af51-b2c2-4e07-8248-814506bf7453.pdf" TargetMode="Externa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34.png"/><Relationship Id="rId4" Type="http://schemas.openxmlformats.org/officeDocument/2006/relationships/customXml" Target="../ink/ink26.xml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5473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Urban Pulse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279030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Presenting Today: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KPI Definition Document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D73901-CBF5-ADAC-25A9-D54D9888B768}"/>
                  </a:ext>
                </a:extLst>
              </p14:cNvPr>
              <p14:cNvContentPartPr/>
              <p14:nvPr/>
            </p14:nvContentPartPr>
            <p14:xfrm>
              <a:off x="8054180" y="4889083"/>
              <a:ext cx="978480" cy="12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D73901-CBF5-ADAC-25A9-D54D9888B7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91540" y="4826443"/>
                <a:ext cx="1104120" cy="25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4406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is a KPI? Definition &amp; Purpose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16570" y="857250"/>
            <a:ext cx="4100215" cy="3921770"/>
          </a:xfrm>
          <a:prstGeom prst="roundRect">
            <a:avLst>
              <a:gd name="adj" fmla="val 423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27000" y="955625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Definition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7000" y="1226641"/>
            <a:ext cx="3879354" cy="125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</a:t>
            </a: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Performance Indicator (KPI)</a:t>
            </a: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a quantifiable metric used to evaluate the success of an organization, project, or activity against defined objectives. KPIs translate complex operational realities into measurable, actionable signals — not passive reporting artifacts, but decision-making instruments.</a:t>
            </a:r>
            <a:endParaRPr lang="en-US" sz="8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Urban Pulse, every KPI includes its business question, formula, source data columns, and explicit assumptions — ensuring full transparency over the Delhi dataset inventoried on Day 2.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11526" y="955625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Five Properties of a Valid KPI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526" y="1238920"/>
            <a:ext cx="1921371" cy="10218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93394" y="1363638"/>
            <a:ext cx="161478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Specific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93394" y="1634654"/>
            <a:ext cx="1614785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Tied to a clearly defined business question or outcome — not a generic metric.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273" y="1238920"/>
            <a:ext cx="1921371" cy="10218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13141" y="1363638"/>
            <a:ext cx="161478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Measurable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913141" y="1634654"/>
            <a:ext cx="1614785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Calculated from a documented formula using traceable source data columns.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526" y="2359149"/>
            <a:ext cx="1921371" cy="10218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3394" y="2483867"/>
            <a:ext cx="161478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Actionable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93394" y="2754883"/>
            <a:ext cx="1614785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Drives decisions — not just reporting. Every KPI maps to an operational lever.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273" y="2359149"/>
            <a:ext cx="1921371" cy="10218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13141" y="2483867"/>
            <a:ext cx="161478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Time-bound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913141" y="2754883"/>
            <a:ext cx="1614785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Evaluated over a defined period or threshold — scoped to available data windows.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526" y="3479378"/>
            <a:ext cx="1921371" cy="11889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3394" y="3604096"/>
            <a:ext cx="161478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Contextual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4893394" y="3875112"/>
            <a:ext cx="1614785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Interpreted alongside assumptions, data limitations, and benchmarks — never in isolation.</a:t>
            </a:r>
            <a:endParaRPr lang="en-US" sz="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56C2DFA-8D25-C97C-DD0F-1FC1A352760D}"/>
                  </a:ext>
                </a:extLst>
              </p14:cNvPr>
              <p14:cNvContentPartPr/>
              <p14:nvPr/>
            </p14:nvContentPartPr>
            <p14:xfrm>
              <a:off x="8075060" y="4882603"/>
              <a:ext cx="901800" cy="169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56C2DFA-8D25-C97C-DD0F-1FC1A35276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2060" y="4819963"/>
                <a:ext cx="1027440" cy="29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7216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Urban Pulse KPI Framework Overview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94978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Framework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157808"/>
            <a:ext cx="1930003" cy="924223"/>
          </a:xfrm>
          <a:prstGeom prst="roundRect">
            <a:avLst>
              <a:gd name="adj" fmla="val 169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0745" y="1262435"/>
            <a:ext cx="172075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 KPI Modules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0745" y="1514177"/>
            <a:ext cx="1720751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 Reliability · Demand Intelligence · Micromobility · Mobility Equity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14377" y="1157808"/>
            <a:ext cx="1930003" cy="924223"/>
          </a:xfrm>
          <a:prstGeom prst="roundRect">
            <a:avLst>
              <a:gd name="adj" fmla="val 169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19003" y="1262435"/>
            <a:ext cx="172075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 Executive Composite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19003" y="1514177"/>
            <a:ext cx="1720751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City Mobility Health Score — normalized 0–100 scale for the executive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6119" y="2181374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444204"/>
            <a:ext cx="3948261" cy="1378074"/>
          </a:xfrm>
          <a:prstGeom prst="roundRect">
            <a:avLst>
              <a:gd name="adj" fmla="val 11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6119" y="2721248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6119" y="2995910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6119" y="3270572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6119" y="3545235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5507" y="2506712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Dataset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74875" y="2506712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Module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5507" y="2781374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Delhi GTFS Feed (DIMTS + DTC)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74875" y="2781374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 Reliability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5507" y="3056037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delhi_traffic_features.csv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4875" y="3056037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Demand Intelligence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5507" y="3330699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Bike-Sharing.zip (day.csv, hour.csv)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74875" y="3330699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Micromobility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5507" y="3605361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Delhi_Demographics.xlsx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4875" y="3605361"/>
            <a:ext cx="221731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Mobility Equity (MAI)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6119" y="3921621"/>
            <a:ext cx="3948261" cy="520005"/>
          </a:xfrm>
          <a:prstGeom prst="roundRect">
            <a:avLst>
              <a:gd name="adj" fmla="val 301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45" y="4070300"/>
            <a:ext cx="130820" cy="1046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36191" y="4027215"/>
            <a:ext cx="3503563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constraint: Several datasets are proxies or partial — all limitations are explicitly documented per KPI, not hidden.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04383" y="894978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Weight in City Mobility Health Score</a:t>
            </a:r>
            <a:endParaRPr lang="en-US" sz="10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383" y="1157808"/>
            <a:ext cx="3948261" cy="284194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04383" y="4099099"/>
            <a:ext cx="3948261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 Reliability carries the highest weight at </a:t>
            </a: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30%</a:t>
            </a: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reflecting the primacy of scheduled public transit in Delhi's mobility ecosystem. Demand Efficiency and MAI are equally weighted at </a:t>
            </a: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25%</a:t>
            </a: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each, while Micromobility contributes </a:t>
            </a: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</a:t>
            </a: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as an emerging mode.</a:t>
            </a:r>
            <a:endParaRPr lang="en-US" sz="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0B45445-60D6-0C29-5CFE-C9D637A00804}"/>
                  </a:ext>
                </a:extLst>
              </p14:cNvPr>
              <p14:cNvContentPartPr/>
              <p14:nvPr/>
            </p14:nvContentPartPr>
            <p14:xfrm>
              <a:off x="8131940" y="4895923"/>
              <a:ext cx="798480" cy="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0B45445-60D6-0C29-5CFE-C9D637A008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69300" y="4769923"/>
                <a:ext cx="924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BFC35F8-CE94-F7B5-F11C-555734D434BA}"/>
                  </a:ext>
                </a:extLst>
              </p14:cNvPr>
              <p14:cNvContentPartPr/>
              <p14:nvPr/>
            </p14:nvContentPartPr>
            <p14:xfrm>
              <a:off x="8080100" y="5012563"/>
              <a:ext cx="889560" cy="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BFC35F8-CE94-F7B5-F11C-555734D434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7460" y="4886563"/>
                <a:ext cx="101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603334-25FC-7120-5CAF-3A5E84FF5238}"/>
                  </a:ext>
                </a:extLst>
              </p14:cNvPr>
              <p14:cNvContentPartPr/>
              <p14:nvPr/>
            </p14:nvContentPartPr>
            <p14:xfrm>
              <a:off x="9007460" y="4954603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603334-25FC-7120-5CAF-3A5E84FF52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44820" y="489160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162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Transit Reliability KPIs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60313"/>
            <a:ext cx="784473" cy="173757"/>
          </a:xfrm>
          <a:prstGeom prst="roundRect">
            <a:avLst>
              <a:gd name="adj" fmla="val 7898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4728" y="994618"/>
            <a:ext cx="1104454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1 OF 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337742" y="960313"/>
            <a:ext cx="2141562" cy="173757"/>
          </a:xfrm>
          <a:prstGeom prst="roundRect">
            <a:avLst>
              <a:gd name="adj" fmla="val 7898"/>
            </a:avLst>
          </a:prstGeom>
          <a:noFill/>
          <a:ln w="4763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06351" y="994618"/>
            <a:ext cx="2461543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WEIGHT: 30% OF CITY MOBILITY HEALTH SCORE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1252612"/>
            <a:ext cx="8608963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Delhi GTFS feed (DIMTS + DTC) —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routes.txt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trips.txt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stops.txt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stop_times.txt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calendar.txt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20" y="1556519"/>
            <a:ext cx="6111478" cy="2467124"/>
          </a:xfrm>
          <a:prstGeom prst="roundRect">
            <a:avLst>
              <a:gd name="adj" fmla="val 6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36552" y="1556519"/>
            <a:ext cx="7147" cy="24671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74" y="1556519"/>
            <a:ext cx="7147" cy="24671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07597" y="1556519"/>
            <a:ext cx="7147" cy="24671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1030" y="1561281"/>
            <a:ext cx="2035522" cy="31425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5330" y="1629296"/>
            <a:ext cx="22617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36552" y="1561281"/>
            <a:ext cx="2035522" cy="31425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53233" y="1629296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Formula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74" y="1561281"/>
            <a:ext cx="2035522" cy="31425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8756" y="1629296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Source 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330" y="1945928"/>
            <a:ext cx="22617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Schedule Adherence 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3233" y="1945928"/>
            <a:ext cx="180216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COUNT(trips within ±tolerance) ÷ COUNT(all trips) × 100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8756" y="1945928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stop_times.txt, trips.txt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30" y="2438400"/>
            <a:ext cx="22617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Headway Variance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3233" y="2438400"/>
            <a:ext cx="1802160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STDEV(gap between consecutive scheduled arrivals) at same stop_id per route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88756" y="2438400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stop_times.txt, stop_id, route_id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5330" y="3106713"/>
            <a:ext cx="22617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Route Coverage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53233" y="3106713"/>
            <a:ext cx="180216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COUNT(DISTINCT stop_id served) ÷ 10,560 total city stops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88756" y="3106713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stops.txt, stop_id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5330" y="3599185"/>
            <a:ext cx="22617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Avg Trip Frequency (load proxy)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3233" y="3599185"/>
            <a:ext cx="180216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COUNT(trips) ÷ COUNT(DISTINCT service days) per route_id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88756" y="3599185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trips.txt, calendar.txt, route_id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6119" y="4142184"/>
            <a:ext cx="8151763" cy="609079"/>
          </a:xfrm>
          <a:prstGeom prst="roundRect">
            <a:avLst>
              <a:gd name="adj" fmla="val 2816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9" y="4299347"/>
            <a:ext cx="142875" cy="1143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7594" y="4276130"/>
            <a:ext cx="7665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GTFS feed is a STATIC schedule — no real-time or actual arrival data exists. Schedule Adherence and Headway Variance are modeled using simulated variance around the static schedule. These are clearly labeled as estimation techniques, not measured real-world delays.</a:t>
            </a:r>
            <a:endParaRPr lang="en-US" sz="9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85E9D0-6308-32C8-220F-3831470D39CF}"/>
              </a:ext>
            </a:extLst>
          </p:cNvPr>
          <p:cNvGrpSpPr/>
          <p:nvPr/>
        </p:nvGrpSpPr>
        <p:grpSpPr>
          <a:xfrm>
            <a:off x="8080100" y="4930483"/>
            <a:ext cx="934200" cy="122040"/>
            <a:chOff x="8080100" y="4930483"/>
            <a:chExt cx="93420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679F9E-7B23-FD8C-F640-C738750FA9E0}"/>
                    </a:ext>
                  </a:extLst>
                </p14:cNvPr>
                <p14:cNvContentPartPr/>
                <p14:nvPr/>
              </p14:nvContentPartPr>
              <p14:xfrm>
                <a:off x="8080100" y="4930483"/>
                <a:ext cx="923760" cy="122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679F9E-7B23-FD8C-F640-C738750FA9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17460" y="4867843"/>
                  <a:ext cx="1049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666404-7523-81BF-DB4E-A13A28E3F1D1}"/>
                    </a:ext>
                  </a:extLst>
                </p14:cNvPr>
                <p14:cNvContentPartPr/>
                <p14:nvPr/>
              </p14:nvContentPartPr>
              <p14:xfrm>
                <a:off x="9013940" y="5025899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666404-7523-81BF-DB4E-A13A28E3F1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1300" y="496289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37880B3-0DCE-D2C3-E6AC-D1EB4370B89A}"/>
                  </a:ext>
                </a:extLst>
              </p14:cNvPr>
              <p14:cNvContentPartPr/>
              <p14:nvPr/>
            </p14:nvContentPartPr>
            <p14:xfrm>
              <a:off x="8183780" y="4895939"/>
              <a:ext cx="675000" cy="45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37880B3-0DCE-D2C3-E6AC-D1EB4370B8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21140" y="4833299"/>
                <a:ext cx="8006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02379B9-1A89-7769-1F8F-2A90D063E170}"/>
                  </a:ext>
                </a:extLst>
              </p14:cNvPr>
              <p14:cNvContentPartPr/>
              <p14:nvPr/>
            </p14:nvContentPartPr>
            <p14:xfrm>
              <a:off x="8423900" y="4954619"/>
              <a:ext cx="360" cy="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02379B9-1A89-7769-1F8F-2A90D063E1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1260" y="4891619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150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Demand Intelligence KPIs (Ride-Hailing Proxy)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907182"/>
            <a:ext cx="758130" cy="167878"/>
          </a:xfrm>
          <a:prstGeom prst="roundRect">
            <a:avLst>
              <a:gd name="adj" fmla="val 7897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2347" y="940296"/>
            <a:ext cx="1082873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2 OF 4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1309464" y="907182"/>
            <a:ext cx="2069902" cy="167878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5693" y="940296"/>
            <a:ext cx="2394645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WEIGHT: 25% OF CITY MOBILITY HEALTH SCORE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96119" y="1185714"/>
            <a:ext cx="8608963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</a:t>
            </a:r>
            <a:r>
              <a:rPr lang="en-US" sz="8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delhi_traffic_features.csv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joined to </a:t>
            </a:r>
            <a:r>
              <a:rPr lang="en-US" sz="8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delhi_traffic_target.csv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</a:t>
            </a:r>
            <a:r>
              <a:rPr lang="en-US" sz="8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Trip_ID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4,000 Delhi trips across 25 named areas.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6119" y="1473026"/>
            <a:ext cx="8151763" cy="1968550"/>
          </a:xfrm>
          <a:prstGeom prst="roundRect">
            <a:avLst>
              <a:gd name="adj" fmla="val 8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1774850"/>
            <a:ext cx="8151763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119" y="2074292"/>
            <a:ext cx="8151763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119" y="2373734"/>
            <a:ext cx="8151763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6119" y="2673176"/>
            <a:ext cx="8151763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6119" y="2972619"/>
            <a:ext cx="8151763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15283" y="1473026"/>
            <a:ext cx="6905" cy="19685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28792" y="1473026"/>
            <a:ext cx="6905" cy="19685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1774" y="1477789"/>
            <a:ext cx="2713509" cy="29706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204" y="1541562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15283" y="1477789"/>
            <a:ext cx="2713509" cy="29706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28095" y="1541562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Formula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28792" y="1477789"/>
            <a:ext cx="2713509" cy="297061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41603" y="1541562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Grouping / Source Columns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204" y="1841004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Avg Travel Time (by area pair)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28095" y="1841004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AVERAGE(travel_time_minutes)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41603" y="1841004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start_area, end_area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204" y="2140446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Demand by Zone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28095" y="2140446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COUNT(trips)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41603" y="2140446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start_area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2204" y="2439888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Speed Efficiency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28095" y="2439888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AVERAGE(average_speed_kmph)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41603" y="2439888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road_type, traffic_density_level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2204" y="2739330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Weather Sensitivity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28095" y="2739330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AVERAGE(travel_time_minutes)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41603" y="2739330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weather_condition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204" y="3038773"/>
            <a:ext cx="2947467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Peak vs Off-Peak Demand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28095" y="3038773"/>
            <a:ext cx="294508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COUNT(trips)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41603" y="3038773"/>
            <a:ext cx="2490267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time_of_day (Morning / Afternoon / Evening / Night)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119" y="3650605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Scope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6119" y="3921621"/>
            <a:ext cx="3941118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Delhi trip-level dataset covers origin/destination area, distance, average speed, and travel time across </a:t>
            </a: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4,000 trips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spanning </a:t>
            </a: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 named Delhi areas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It serves as the ride-hailing and demand proxy in the absence of a proprietary ride-hailing dataset.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1526" y="3650605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Data Gap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11526" y="3933899"/>
            <a:ext cx="3941118" cy="733723"/>
          </a:xfrm>
          <a:prstGeom prst="roundRect">
            <a:avLst>
              <a:gd name="adj" fmla="val 225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57" y="4089574"/>
            <a:ext cx="138038" cy="11043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070425" y="4050060"/>
            <a:ext cx="3471788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fare or price column exists in the dataset. Any fare-elasticity KPI requires an assumed fare model layered on top of distance and time — this assumption must be explicitly declared in all reporting.</a:t>
            </a:r>
            <a:endParaRPr lang="en-US" sz="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348FFB3-F046-B967-A87A-4F33DA4B5E8F}"/>
                  </a:ext>
                </a:extLst>
              </p14:cNvPr>
              <p14:cNvContentPartPr/>
              <p14:nvPr/>
            </p14:nvContentPartPr>
            <p14:xfrm>
              <a:off x="8021780" y="4980163"/>
              <a:ext cx="980280" cy="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348FFB3-F046-B967-A87A-4F33DA4B5E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9140" y="4854883"/>
                <a:ext cx="11059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0AE4893-769F-CBDD-69B8-4250DC9BC9AC}"/>
                  </a:ext>
                </a:extLst>
              </p14:cNvPr>
              <p14:cNvContentPartPr/>
              <p14:nvPr/>
            </p14:nvContentPartPr>
            <p14:xfrm>
              <a:off x="8021780" y="4824643"/>
              <a:ext cx="973440" cy="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0AE4893-769F-CBDD-69B8-4250DC9BC9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59140" y="4698643"/>
                <a:ext cx="109908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04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Micromobility KPIs (Bike-Share Proxy)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1006301"/>
            <a:ext cx="797793" cy="176585"/>
          </a:xfrm>
          <a:prstGeom prst="roundRect">
            <a:avLst>
              <a:gd name="adj" fmla="val 7903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5845" y="1041127"/>
            <a:ext cx="1115541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3 OF 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352029" y="1006301"/>
            <a:ext cx="2178100" cy="176585"/>
          </a:xfrm>
          <a:prstGeom prst="roundRect">
            <a:avLst>
              <a:gd name="adj" fmla="val 7903"/>
            </a:avLst>
          </a:prstGeom>
          <a:noFill/>
          <a:ln w="4763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21755" y="1041127"/>
            <a:ext cx="2495848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WEIGHT: 20% OF CITY MOBILITY HEALTH SCORE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1305520"/>
            <a:ext cx="8608963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Bike-Sharing.zip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day.csv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hour.csv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— structurally the public Capital Bikeshare (Washington D.C.) dataset, used as a Delhi structural stand-in.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19" y="1617911"/>
            <a:ext cx="8151763" cy="2172146"/>
          </a:xfrm>
          <a:prstGeom prst="roundRect">
            <a:avLst>
              <a:gd name="adj" fmla="val 8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1945630"/>
            <a:ext cx="8151763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119" y="2451199"/>
            <a:ext cx="8151763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119" y="2776538"/>
            <a:ext cx="8151763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6119" y="3282107"/>
            <a:ext cx="8151763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36552" y="1617911"/>
            <a:ext cx="7268" cy="21721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74" y="1617911"/>
            <a:ext cx="7268" cy="21721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07597" y="1617911"/>
            <a:ext cx="7268" cy="21721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1030" y="1622673"/>
            <a:ext cx="2035522" cy="322957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7265" y="1692846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36552" y="1622673"/>
            <a:ext cx="2035522" cy="322957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55168" y="1692846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Formula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74" y="1622673"/>
            <a:ext cx="2035522" cy="322957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90690" y="1692846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Source Columns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07597" y="1622673"/>
            <a:ext cx="2035522" cy="322957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6213" y="1692846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What It Measures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65" y="2018184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Utilization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5168" y="2018184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AVERAGE(cnt)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0690" y="2018184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season, weathersit, hr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6213" y="2018184"/>
            <a:ext cx="1800671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Seasonal/weather/hourly ride volume patterns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65" y="2523753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Casual vs Registered Ratio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5168" y="2523753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SUM(casual) ÷ SUM(registered)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0690" y="2523753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workingday, casual, registered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6213" y="2523753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Commuter vs. leisure demand split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65" y="2849091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Weather Impact on Rides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55168" y="2849091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AVERAGE(cnt)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90690" y="2849091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weathersit (1–4 scale)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6213" y="2849091"/>
            <a:ext cx="1800671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Sensitivity of ridership to weather conditions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65" y="3354660"/>
            <a:ext cx="225787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Peak Usage Hour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5168" y="3354660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MAX(AVERAGE(cnt))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90690" y="3354660"/>
            <a:ext cx="225549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hr (0–23)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6213" y="3354660"/>
            <a:ext cx="1800671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Hour of day with highest average ridership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6119" y="3912691"/>
            <a:ext cx="8151763" cy="805830"/>
          </a:xfrm>
          <a:prstGeom prst="roundRect">
            <a:avLst>
              <a:gd name="adj" fmla="val 2165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53" y="4075286"/>
            <a:ext cx="145331" cy="116235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3919" y="4050729"/>
            <a:ext cx="7657728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dataset contains NO station IDs or GPS coordinates — it is aggregate ride counts only. KPIs measure utilization patterns (seasonal, weather, hour-of-day behavior), not real Delhi station-level rebalancing. All charts derived from this module must be labeled as illustrative/proxy in the final report.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2EDA794-1B30-5A11-F88A-87404583BB0E}"/>
                  </a:ext>
                </a:extLst>
              </p14:cNvPr>
              <p14:cNvContentPartPr/>
              <p14:nvPr/>
            </p14:nvContentPartPr>
            <p14:xfrm>
              <a:off x="8054180" y="4921843"/>
              <a:ext cx="940680" cy="198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2EDA794-1B30-5A11-F88A-87404583BB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91540" y="4859203"/>
                <a:ext cx="1066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038693B-7748-CC7E-DF4F-332247CF4DD1}"/>
                  </a:ext>
                </a:extLst>
              </p14:cNvPr>
              <p14:cNvContentPartPr/>
              <p14:nvPr/>
            </p14:nvContentPartPr>
            <p14:xfrm>
              <a:off x="8073620" y="4954603"/>
              <a:ext cx="973080" cy="58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038693B-7748-CC7E-DF4F-332247CF4D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10980" y="4891603"/>
                <a:ext cx="1098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497547F-D5CF-143B-BEFE-A3F38458F967}"/>
                  </a:ext>
                </a:extLst>
              </p14:cNvPr>
              <p14:cNvContentPartPr/>
              <p14:nvPr/>
            </p14:nvContentPartPr>
            <p14:xfrm>
              <a:off x="8722340" y="5044963"/>
              <a:ext cx="22752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497547F-D5CF-143B-BEFE-A3F38458F9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59340" y="4982323"/>
                <a:ext cx="3531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9288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Mobility Equity KPI — Mobility Access Index (MAI)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845716"/>
            <a:ext cx="678433" cy="150168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55427" y="875333"/>
            <a:ext cx="1017017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 OF 4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1223963" y="845716"/>
            <a:ext cx="1852017" cy="150168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83271" y="875333"/>
            <a:ext cx="2190601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WEIGHT: 25% OF CITY MOBILITY HEALTH SCORE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96119" y="1163166"/>
            <a:ext cx="395533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 Formula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1406128"/>
            <a:ext cx="14288" cy="425723"/>
          </a:xfrm>
          <a:prstGeom prst="roundRect">
            <a:avLst>
              <a:gd name="adj" fmla="val 59998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351" y="1476970"/>
            <a:ext cx="3807098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MAI = (Transit Stop Density × 0.4) + (Inverse Avg Travel Time to Key Hubs × 0.4) – (Population Density Penalty × 0.2)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6119" y="1920478"/>
            <a:ext cx="3955331" cy="43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weighted composite score (0–100) per district measuring transit accessibility. Scoped as a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Transit Accessibility Index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not a full socioeconomic equity index — due to the absence of income data in </a:t>
            </a: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Delhi_Demographics.xlsx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6119" y="2430140"/>
            <a:ext cx="395533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Component Breakdown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673102"/>
            <a:ext cx="3955331" cy="2002557"/>
          </a:xfrm>
          <a:prstGeom prst="roundRect">
            <a:avLst>
              <a:gd name="adj" fmla="val 74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6119" y="2926333"/>
            <a:ext cx="3955331" cy="61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6119" y="3461296"/>
            <a:ext cx="3955331" cy="61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6119" y="3996258"/>
            <a:ext cx="3955331" cy="61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0149" y="2729880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Component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15120" y="2729880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Weight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0091" y="2729880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Formula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0149" y="2980730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 Stop Density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15120" y="2980730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30091" y="2980730"/>
            <a:ext cx="1117327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COUNT(stops in district via lat/lon bucketing) ÷ Area_sq_km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0149" y="3515692"/>
            <a:ext cx="111732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Inverse Avg Travel Time to Key Hubs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915120" y="3515692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30091" y="3515692"/>
            <a:ext cx="1117327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AVERAGE(travel_time_minutes) from district areas to hubs (CP, AIIMS, etc.)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0149" y="4050655"/>
            <a:ext cx="111732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Population Density Penalty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15120" y="4050655"/>
            <a:ext cx="157452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30091" y="4050655"/>
            <a:ext cx="1117327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Normalized Population_Density_per_sq_km (corrected post Day 9 cleansing)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97313" y="1163166"/>
            <a:ext cx="395533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Quality Issues — Action Required</a:t>
            </a:r>
            <a:endParaRPr lang="en-US" sz="9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7313" y="1406128"/>
            <a:ext cx="3955331" cy="89029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867573" y="1519238"/>
            <a:ext cx="36719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Income Data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67573" y="1752377"/>
            <a:ext cx="3671962" cy="43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Delhi_Demographics.xlsx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contains no income field. MAI is therefore scoped as a transit accessibility index only — full socioeconomic equity scoring is out of scope for this sprint.</a:t>
            </a:r>
            <a:endParaRPr lang="en-US" sz="7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313" y="2375148"/>
            <a:ext cx="3955331" cy="88552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867573" y="2488257"/>
            <a:ext cx="36719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Duplicated Population Figures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67573" y="2721397"/>
            <a:ext cx="3671962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Population columns are currently duplicated identically across every district row — flagged as a data-quality issue on Day 2. Must be corrected during Day 9 cleansing before MAI is calculated.</a:t>
            </a:r>
            <a:endParaRPr lang="en-US" sz="7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7313" y="3339405"/>
            <a:ext cx="3955331" cy="74347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867573" y="3452515"/>
            <a:ext cx="36719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Geo-Bucketing Required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867573" y="3685654"/>
            <a:ext cx="3671962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Stop density calculation requires lat/lon bucketing of GTFS stop coordinates to district boundaries — a spatial join step to be executed in the data pipeline.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4697313" y="4171429"/>
            <a:ext cx="3955331" cy="475208"/>
          </a:xfrm>
          <a:prstGeom prst="roundRect">
            <a:avLst>
              <a:gd name="adj" fmla="val 3120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135" y="4308500"/>
            <a:ext cx="123527" cy="9882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018484" y="4266977"/>
            <a:ext cx="3535338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Demographics population figures are duplicated per district — MAI cannot be calculated until Day 9 data cleansing is complete.</a:t>
            </a:r>
            <a:endParaRPr lang="en-US" sz="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80B3DFA-794F-4B81-883D-E7C7921B9D5D}"/>
                  </a:ext>
                </a:extLst>
              </p14:cNvPr>
              <p14:cNvContentPartPr/>
              <p14:nvPr/>
            </p14:nvContentPartPr>
            <p14:xfrm>
              <a:off x="8086580" y="4973683"/>
              <a:ext cx="940680" cy="6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80B3DFA-794F-4B81-883D-E7C7921B9D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3940" y="4911043"/>
                <a:ext cx="10663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DD8EB88-61ED-7307-CB97-7D41DF1BDBFD}"/>
                  </a:ext>
                </a:extLst>
              </p14:cNvPr>
              <p14:cNvContentPartPr/>
              <p14:nvPr/>
            </p14:nvContentPartPr>
            <p14:xfrm>
              <a:off x="8579780" y="4973683"/>
              <a:ext cx="253440" cy="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DD8EB88-61ED-7307-CB97-7D41DF1BDB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16780" y="4847683"/>
                <a:ext cx="3790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F85E145-2160-E82F-C59F-B641CBE741C0}"/>
                  </a:ext>
                </a:extLst>
              </p14:cNvPr>
              <p14:cNvContentPartPr/>
              <p14:nvPr/>
            </p14:nvContentPartPr>
            <p14:xfrm>
              <a:off x="8131940" y="4857043"/>
              <a:ext cx="804600" cy="65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F85E145-2160-E82F-C59F-B641CBE741C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9300" y="4794403"/>
                <a:ext cx="9302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BC42D3C-E1E6-7888-47D7-D9B4C6ED0035}"/>
                  </a:ext>
                </a:extLst>
              </p14:cNvPr>
              <p14:cNvContentPartPr/>
              <p14:nvPr/>
            </p14:nvContentPartPr>
            <p14:xfrm>
              <a:off x="8715860" y="5005003"/>
              <a:ext cx="25344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BC42D3C-E1E6-7888-47D7-D9B4C6ED003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52860" y="4942363"/>
                <a:ext cx="379080" cy="15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9941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KPI: City Mobility Health Score &amp; Key Assumptions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747713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Composite Score Formula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934864"/>
            <a:ext cx="9525" cy="311795"/>
          </a:xfrm>
          <a:prstGeom prst="roundRect">
            <a:avLst>
              <a:gd name="adj" fmla="val 60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8158" y="982935"/>
            <a:ext cx="3854574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City Mobility Health Score = (Transit Reliability × 30%) + (Demand Efficiency × 25%) + (MAI × 25%) + (Micromobility Utilization × 20%)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96119" y="1306711"/>
            <a:ext cx="3976613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composite score (0–100) for the executive dashboard combining all four module scores. Each sub-score must be </a:t>
            </a:r>
            <a:r>
              <a:rPr lang="en-US" sz="6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normalized to a 0–100 scale before weighting</a:t>
            </a: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 that no single module dominates due to differing raw ranges.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96119" y="1730871"/>
            <a:ext cx="397661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30%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6119" y="2080171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Transit Reliability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2260625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Highest weight — core public transit system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96119" y="2515865"/>
            <a:ext cx="397661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6119" y="2865165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Demand Efficiency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6119" y="3045619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Ride-hailing proxy dataset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96119" y="3300859"/>
            <a:ext cx="397661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6119" y="3650159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 Score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3830613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Mobility Equity / Accessibility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96119" y="4085853"/>
            <a:ext cx="397661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20%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96119" y="4435153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Micromobility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119" y="4615607"/>
            <a:ext cx="397661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Bike-share proxy dataset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676031" y="747713"/>
            <a:ext cx="397661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Assumptions &amp; Limitations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76031" y="934864"/>
            <a:ext cx="3976613" cy="2091854"/>
          </a:xfrm>
          <a:prstGeom prst="roundRect">
            <a:avLst>
              <a:gd name="adj" fmla="val 5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76031" y="1123355"/>
            <a:ext cx="397661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76031" y="1417290"/>
            <a:ext cx="397661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76031" y="1819052"/>
            <a:ext cx="397661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76031" y="2220813"/>
            <a:ext cx="397661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76031" y="2622575"/>
            <a:ext cx="3976613" cy="50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03354" y="934864"/>
            <a:ext cx="5088" cy="209185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25395" y="934864"/>
            <a:ext cx="5088" cy="209185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81314" y="939626"/>
            <a:ext cx="1322040" cy="183728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62649" y="976387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Assumption Area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003354" y="939626"/>
            <a:ext cx="1322040" cy="183728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87070" y="976387"/>
            <a:ext cx="1611809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Limitation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7325395" y="939626"/>
            <a:ext cx="1322040" cy="183728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09111" y="976387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Risk Level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62649" y="1162496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Schedule Adherence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087070" y="1162496"/>
            <a:ext cx="1154609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Simulated — no real-time GTFS feed available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409111" y="1162496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62649" y="1456432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Ride-Hailing KPIs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87070" y="1456432"/>
            <a:ext cx="1154609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General Delhi trip dataset as proxy — no fare data for elasticity metrics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409111" y="1456432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93CB5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Medium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62649" y="1858194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Bike-Share KPIs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087070" y="1858194"/>
            <a:ext cx="1154609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Washington D.C. Capital Bikeshare data as structural stand-in for Delhi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409111" y="1858194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62649" y="2259955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KPIs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87070" y="2259955"/>
            <a:ext cx="1154609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data covers Jan–Jun 2025 only — scoped to this window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409111" y="2259955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93CB5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Medium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62649" y="2661717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Demographics / MAI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087070" y="2661717"/>
            <a:ext cx="1154609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Income data absent — MAI reflects transit accessibility only, not full equity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409111" y="2661717"/>
            <a:ext cx="1614190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1C977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</a:t>
            </a:r>
            <a:endParaRPr lang="en-US" sz="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5A3C86C-D06B-AC32-C960-42D1A668D594}"/>
                  </a:ext>
                </a:extLst>
              </p14:cNvPr>
              <p14:cNvContentPartPr/>
              <p14:nvPr/>
            </p14:nvContentPartPr>
            <p14:xfrm>
              <a:off x="8073620" y="4908163"/>
              <a:ext cx="918720" cy="34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5A3C86C-D06B-AC32-C960-42D1A668D5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10980" y="4845523"/>
                <a:ext cx="10443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31C1A08-7E39-25AC-DFDA-7F131CF4CC9C}"/>
                  </a:ext>
                </a:extLst>
              </p14:cNvPr>
              <p14:cNvContentPartPr/>
              <p14:nvPr/>
            </p14:nvContentPartPr>
            <p14:xfrm>
              <a:off x="8086580" y="5057923"/>
              <a:ext cx="35064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31C1A08-7E39-25AC-DFDA-7F131CF4CC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23580" y="4994923"/>
                <a:ext cx="4762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D0B18D-D849-8CA6-2B14-FC61996C88DE}"/>
                  </a:ext>
                </a:extLst>
              </p14:cNvPr>
              <p14:cNvContentPartPr/>
              <p14:nvPr/>
            </p14:nvContentPartPr>
            <p14:xfrm>
              <a:off x="8456300" y="4974059"/>
              <a:ext cx="467280" cy="65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D0B18D-D849-8CA6-2B14-FC61996C88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93300" y="4911059"/>
                <a:ext cx="5929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A66B499-8AB0-0DA0-4B9D-E714F81CBCB0}"/>
                  </a:ext>
                </a:extLst>
              </p14:cNvPr>
              <p14:cNvContentPartPr/>
              <p14:nvPr/>
            </p14:nvContentPartPr>
            <p14:xfrm>
              <a:off x="8988020" y="5012939"/>
              <a:ext cx="36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A66B499-8AB0-0DA0-4B9D-E714F81CBC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25380" y="4949939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542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Summary — Day 3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51000"/>
            <a:ext cx="1384846" cy="188565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70533" y="1488207"/>
            <a:ext cx="169321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KPI DEFINITION COMPLETE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942951" y="1451000"/>
            <a:ext cx="137085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7365" y="1488207"/>
            <a:ext cx="167922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3 OF PROJECT SPRINT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1689125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Was Defined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6119" y="2069009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2627" y="209226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9145" y="2111648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KPI Definition Framework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9145" y="2379911"/>
            <a:ext cx="35953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KPI is a quantifiable, formula-driven metric tied to a specific business question — not just a number, but a decision-making tool. Every Urban Pulse KPI includes its formula, source columns, and explicit assumptions.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9465" y="2069009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95974" y="209226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52492" y="2111648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 KPI Modules Documented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2492" y="2379911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 Reliability, Demand Intelligence, Micromobility, and Mobility Equity (MAI) — each with fully documented formulas and source data columns traceable to the Day 2 dataset inventory.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42178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2627" y="344503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9145" y="3464421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Composite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145" y="3732684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City Mobility Health Score (0–100): Transit Reliability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30%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+ Demand Efficiency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25%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+ MAI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25%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+ Micromobility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All sub-scores normalized before weighting.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9465" y="342178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95974" y="344503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52492" y="3464421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Transparency Protocol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52492" y="3732684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proxy datasets and data limitations are explicitly flagged at the KPI level — no metric hides its assumptions. Proxy-based charts will be labeled illustrative in the final report.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590019-9F96-20B7-80CF-366A5DA95F30}"/>
                  </a:ext>
                </a:extLst>
              </p14:cNvPr>
              <p14:cNvContentPartPr/>
              <p14:nvPr/>
            </p14:nvContentPartPr>
            <p14:xfrm>
              <a:off x="8131940" y="4908883"/>
              <a:ext cx="875880" cy="52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590019-9F96-20B7-80CF-366A5DA95F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9300" y="4846243"/>
                <a:ext cx="10015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ED20B05-B1D7-ADF3-98F5-2305CAA93A46}"/>
                  </a:ext>
                </a:extLst>
              </p14:cNvPr>
              <p14:cNvContentPartPr/>
              <p14:nvPr/>
            </p14:nvContentPartPr>
            <p14:xfrm>
              <a:off x="8080100" y="4967579"/>
              <a:ext cx="901800" cy="71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ED20B05-B1D7-ADF3-98F5-2305CAA93A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7460" y="4904579"/>
                <a:ext cx="1027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F963A82-3F70-5249-A02A-2AB9B3CC18B4}"/>
                  </a:ext>
                </a:extLst>
              </p14:cNvPr>
              <p14:cNvContentPartPr/>
              <p14:nvPr/>
            </p14:nvContentPartPr>
            <p14:xfrm>
              <a:off x="8929700" y="5032379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F963A82-3F70-5249-A02A-2AB9B3CC18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7060" y="4969379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5473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79030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30b4af51-b2c2-4e07-8248-814506bf7453.pdf</a:t>
            </a:r>
            <a:endParaRPr lang="en-US" sz="9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1A78BA-7EE3-051A-F6CA-4ACFFBDD2A4D}"/>
              </a:ext>
            </a:extLst>
          </p:cNvPr>
          <p:cNvGrpSpPr/>
          <p:nvPr/>
        </p:nvGrpSpPr>
        <p:grpSpPr>
          <a:xfrm>
            <a:off x="8060660" y="4878283"/>
            <a:ext cx="987840" cy="141480"/>
            <a:chOff x="8060660" y="4878283"/>
            <a:chExt cx="98784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C7E3E5-D32B-11D2-F15A-F283AE35493C}"/>
                    </a:ext>
                  </a:extLst>
                </p14:cNvPr>
                <p14:cNvContentPartPr/>
                <p14:nvPr/>
              </p14:nvContentPartPr>
              <p14:xfrm>
                <a:off x="8060660" y="4878283"/>
                <a:ext cx="987840" cy="4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C7E3E5-D32B-11D2-F15A-F283AE3549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98020" y="4815643"/>
                  <a:ext cx="1113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E7686D-3F6A-5205-3D89-2EFA641D9BF3}"/>
                    </a:ext>
                  </a:extLst>
                </p14:cNvPr>
                <p14:cNvContentPartPr/>
                <p14:nvPr/>
              </p14:nvContentPartPr>
              <p14:xfrm>
                <a:off x="8106380" y="4953523"/>
                <a:ext cx="615240" cy="66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E7686D-3F6A-5205-3D89-2EFA641D9B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3380" y="4890523"/>
                  <a:ext cx="74088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B2B6D3-9E0D-554D-5234-83D864B910B0}"/>
                  </a:ext>
                </a:extLst>
              </p14:cNvPr>
              <p14:cNvContentPartPr/>
              <p14:nvPr/>
            </p14:nvContentPartPr>
            <p14:xfrm>
              <a:off x="8469260" y="5025899"/>
              <a:ext cx="513000" cy="32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B2B6D3-9E0D-554D-5234-83D864B910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6260" y="4962899"/>
                <a:ext cx="638640" cy="15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50F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1647</Words>
  <Application>Microsoft Office PowerPoint</Application>
  <PresentationFormat>On-screen Show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Heebo</vt:lpstr>
      <vt:lpstr>Crimson Pro SemiBold</vt:lpstr>
      <vt:lpstr>Consolas</vt:lpstr>
      <vt:lpstr>Arial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Suyash</dc:creator>
  <cp:lastModifiedBy>Suyash Agrawaal</cp:lastModifiedBy>
  <cp:revision>3</cp:revision>
  <dcterms:created xsi:type="dcterms:W3CDTF">2026-07-22T12:33:30Z</dcterms:created>
  <dcterms:modified xsi:type="dcterms:W3CDTF">2026-07-22T13:04:30Z</dcterms:modified>
</cp:coreProperties>
</file>